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E88E5">
              <a:alpha val="12000"/>
            </a:srgbClr>
          </a:solidFill>
          <a:ln w="12700">
            <a:solidFill>
              <a:srgbClr val="1E88E5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371600"/>
            <a:ext cx="3200400" cy="3200400"/>
          </a:xfrm>
          <a:prstGeom prst="ellipse">
            <a:avLst/>
          </a:prstGeom>
          <a:solidFill>
            <a:srgbClr val="00BCD4">
              <a:alpha val="15000"/>
            </a:srgbClr>
          </a:solidFill>
          <a:ln w="12700">
            <a:solidFill>
              <a:srgbClr val="00BCD4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50292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IT SUPPORT INNOVATION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L2 Support</a:t>
            </a:r>
            <a:endParaRPr lang="en-US" sz="4000" dirty="0"/>
          </a:p>
          <a:p>
            <a:pPr indent="0" marL="0">
              <a:buNone/>
            </a:pPr>
            <a:r>
              <a:rPr lang="en-US" sz="4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5669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is transforming the way our team handles IT incidents —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resolutions, less manual work, smarter decisions.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389120"/>
            <a:ext cx="173736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3891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Power Automate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31720" y="4389120"/>
            <a:ext cx="173736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43891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Copilot Studio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06240" y="4389120"/>
            <a:ext cx="173736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43891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Confluence / Rovo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55080" y="4389120"/>
            <a:ext cx="1737360" cy="34747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43891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SharePoint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Presented to Product Team  •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THE PROBLEM WE SOLVED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2743200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051560"/>
            <a:ext cx="731520" cy="731520"/>
          </a:xfrm>
          <a:prstGeom prst="ellipse">
            <a:avLst/>
          </a:prstGeom>
          <a:solidFill>
            <a:srgbClr val="C62828">
              <a:alpha val="85000"/>
            </a:srgbClr>
          </a:solidFill>
          <a:ln w="12700">
            <a:solidFill>
              <a:srgbClr val="C62828">
                <a:alpha val="8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1887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email was manual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8912" y="2487168"/>
            <a:ext cx="241401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engineers read every support email, triaged it, wrote the RCA, and replied — all by hand. Peak times meant hours of backlog.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27832" y="841248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27832" y="841248"/>
            <a:ext cx="2743200" cy="7315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33672" y="1051560"/>
            <a:ext cx="731520" cy="731520"/>
          </a:xfrm>
          <a:prstGeom prst="ellipse">
            <a:avLst/>
          </a:prstGeom>
          <a:solidFill>
            <a:srgbClr val="F57C00">
              <a:alpha val="85000"/>
            </a:srgbClr>
          </a:solidFill>
          <a:ln w="12700">
            <a:solidFill>
              <a:srgbClr val="F57C00">
                <a:alpha val="85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1887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64992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was scattered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92424" y="2487168"/>
            <a:ext cx="241401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in Confluence, past RCAs in SharePoint, and tribal knowledge in people's heads. No single place to look up fixes.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81344" y="841248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81344" y="841248"/>
            <a:ext cx="2743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87184" y="1051560"/>
            <a:ext cx="731520" cy="731520"/>
          </a:xfrm>
          <a:prstGeom prst="ellipse">
            <a:avLst/>
          </a:prstGeom>
          <a:solidFill>
            <a:srgbClr val="1565C0">
              <a:alpha val="85000"/>
            </a:srgbClr>
          </a:solidFill>
          <a:ln w="12700">
            <a:solidFill>
              <a:srgbClr val="1565C0">
                <a:alpha val="85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344" y="11887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18504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consistency or audit trail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45936" y="2487168"/>
            <a:ext cx="241401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engineers wrote RCAs differently. No standard format, no automatic logging, no way to track resolution patterns over time.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74320" y="4681728"/>
            <a:ext cx="8595360" cy="329184"/>
          </a:xfrm>
          <a:prstGeom prst="rect">
            <a:avLst/>
          </a:prstGeom>
          <a:solidFill>
            <a:srgbClr val="0F2044">
              <a:alpha val="92000"/>
            </a:srgbClr>
          </a:solidFill>
          <a:ln w="12700">
            <a:solidFill>
              <a:srgbClr val="0F2044">
                <a:alpha val="92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65760" y="468172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Result: High engineer fatigue, inconsistent quality, slow MTTR (Mean Time To Resolve), and no learning loop from past incidents.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WHAT WE BUILT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37474F"/>
                </a:solidFill>
              </a:rPr>
              <a:t>An end-to-end automated pipeline that watches for IT support emails, analyses them with AI, retrieves knowledge from Confluence, and manages the full resolution lifecycle — with a human in the loop.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54380" y="1645920"/>
            <a:ext cx="914400" cy="9144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438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6334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Email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Arrives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73352" y="2066544"/>
            <a:ext cx="384048" cy="54864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1993392"/>
            <a:ext cx="54864" cy="20116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83180" y="1645920"/>
            <a:ext cx="914400" cy="9144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8318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31720" y="26334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AI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Analysis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02152" y="2066544"/>
            <a:ext cx="384048" cy="54864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1993392"/>
            <a:ext cx="54864" cy="20116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11980" y="1645920"/>
            <a:ext cx="914400" cy="91440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1198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160520" y="26334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KB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Lookup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30952" y="2066544"/>
            <a:ext cx="384048" cy="54864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1993392"/>
            <a:ext cx="54864" cy="20116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40780" y="1645920"/>
            <a:ext cx="914400" cy="9144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4078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989320" y="26334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Human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Approval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59752" y="2066544"/>
            <a:ext cx="384048" cy="54864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1993392"/>
            <a:ext cx="54864" cy="20116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69580" y="1645920"/>
            <a:ext cx="914400" cy="91440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069580" y="1645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818120" y="26334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Reply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044"/>
                </a:solidFill>
              </a:rPr>
              <a:t>RCA Doc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063240"/>
            <a:ext cx="4206240" cy="749808"/>
          </a:xfrm>
          <a:prstGeom prst="rect">
            <a:avLst/>
          </a:prstGeom>
          <a:solidFill>
            <a:srgbClr val="F4F6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063240"/>
            <a:ext cx="64008" cy="7498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09981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Smart Noise Filter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" y="33832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</a:rPr>
              <a:t>Automatically skips automated alerts, system emails and approval notifications — only real incidents proceed.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3063240"/>
            <a:ext cx="4206240" cy="749808"/>
          </a:xfrm>
          <a:prstGeom prst="rect">
            <a:avLst/>
          </a:prstGeom>
          <a:solidFill>
            <a:srgbClr val="F4F6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3063240"/>
            <a:ext cx="64008" cy="7498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65192" y="309981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Rejection &amp; Retry Loop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65192" y="338328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</a:rPr>
              <a:t>If you reject the AI suggestion, it re-analyses using your feedback and tries again — up to 2 retries before escalating.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3931920"/>
            <a:ext cx="4206240" cy="749808"/>
          </a:xfrm>
          <a:prstGeom prst="rect">
            <a:avLst/>
          </a:prstGeom>
          <a:solidFill>
            <a:srgbClr val="F4F6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931920"/>
            <a:ext cx="64008" cy="7498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39684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Duplicate Detection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" y="42519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</a:rPr>
              <a:t>Checks SharePoint before creating a new RCA — prevents duplicate documents for the same incident number.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3931920"/>
            <a:ext cx="4206240" cy="749808"/>
          </a:xfrm>
          <a:prstGeom prst="rect">
            <a:avLst/>
          </a:prstGeom>
          <a:solidFill>
            <a:srgbClr val="F4F6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3931920"/>
            <a:ext cx="64008" cy="7498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39684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Confidence Scoring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65192" y="425196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74F"/>
                </a:solidFill>
              </a:rPr>
              <a:t>AI rates its own confidence as Low / Medium / High. Low confidence triggers a prominent warning on the approval card.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HOW IT WORKS — STEP BY STEP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41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896112"/>
            <a:ext cx="5074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89611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Email received on DL mailbox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" y="1188720"/>
            <a:ext cx="36576" cy="1600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367028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670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421892"/>
            <a:ext cx="5074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4218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Filter: ignore noise, system &amp; duplicate trigger emails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" y="1714500"/>
            <a:ext cx="36576" cy="1600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892808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1947672"/>
            <a:ext cx="5074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19476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Search Confluence for relevant KB articles &amp; runbooks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" y="2240280"/>
            <a:ext cx="36576" cy="1600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418588"/>
            <a:ext cx="347472" cy="34747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4185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2473452"/>
            <a:ext cx="5074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24734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AI agent analyses email + KB content, returns structured JSON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" y="2766060"/>
            <a:ext cx="36576" cy="1600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944368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7240" y="2999232"/>
            <a:ext cx="5074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29992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Check SharePoint — does an RCA already exist? (Duplicate guard)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" y="3291840"/>
            <a:ext cx="36576" cy="1600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470148"/>
            <a:ext cx="347472" cy="347472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4701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" y="3525012"/>
            <a:ext cx="5074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" y="352501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Send approval request to engineer via Teams &amp; email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" y="3817620"/>
            <a:ext cx="36576" cy="1600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995928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995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7240" y="4050792"/>
            <a:ext cx="5074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" y="40507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Approve → Reply sent to user + RCA doc created in SharePoint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" y="4343400"/>
            <a:ext cx="36576" cy="1600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4521708"/>
            <a:ext cx="347472" cy="34747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5217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77240" y="4576572"/>
            <a:ext cx="5074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0392" y="45765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Reject → AI re-analyses with your feedback (up to 2 retries)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72200" y="777240"/>
            <a:ext cx="2697480" cy="41605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263640" y="8412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BCD4"/>
                </a:solidFill>
              </a:rPr>
              <a:t>What the AI Returns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263640" y="1261872"/>
            <a:ext cx="251460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✦  Incident classification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✦  Affected system &amp; users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✦  Severity (P1 – P4)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✦  Confidence level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✦  Probable root cause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✦  Step-by-step resolution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✦  RCA summary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✦  Knowledge sources used</a:t>
            </a:r>
            <a:endParaRPr lang="en-US" sz="10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✦  Gaps flagged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63640" y="47365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0A4AE"/>
                </a:solidFill>
              </a:rPr>
              <a:t>Structured JSON — every field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90A4AE"/>
                </a:solidFill>
              </a:rPr>
              <a:t>parsed and stored automatically.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TIME SAVED &amp; BUSINESS VALUE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0A4AE"/>
                </a:solidFill>
              </a:rPr>
              <a:t>Based on: 20 incidents/week · 45 min average manual handling time · L2 engineer blended cost AUD $85/hr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011680" cy="1965960"/>
          </a:xfrm>
          <a:prstGeom prst="rect">
            <a:avLst/>
          </a:prstGeom>
          <a:solidFill>
            <a:srgbClr val="F4F6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01168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6187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 hrs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9385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Engineer time saved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per month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246888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90A4AE"/>
                </a:solidFill>
              </a:rPr>
              <a:t>20 incidents × 45 min × 0.75 automation rate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68880" y="1097280"/>
            <a:ext cx="2011680" cy="1965960"/>
          </a:xfrm>
          <a:prstGeom prst="rect">
            <a:avLst/>
          </a:prstGeom>
          <a:solidFill>
            <a:srgbClr val="F4F6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97280"/>
            <a:ext cx="201168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26187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$3,230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19385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Monthly cost saving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(AUD)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42032" y="246888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90A4AE"/>
                </a:solidFill>
              </a:rPr>
              <a:t>38 hrs × $85/hr blended rate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17720" y="1097280"/>
            <a:ext cx="2011680" cy="1965960"/>
          </a:xfrm>
          <a:prstGeom prst="rect">
            <a:avLst/>
          </a:prstGeom>
          <a:solidFill>
            <a:srgbClr val="F4F6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097280"/>
            <a:ext cx="2011680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26187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$38,760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09160" y="19385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Annual saving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(AUD)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90872" y="246888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90A4AE"/>
                </a:solidFill>
              </a:rPr>
              <a:t>Conservative estimate — scales with volume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66560" y="1097280"/>
            <a:ext cx="2011680" cy="1965960"/>
          </a:xfrm>
          <a:prstGeom prst="rect">
            <a:avLst/>
          </a:prstGeom>
          <a:solidFill>
            <a:srgbClr val="F4F6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097280"/>
            <a:ext cx="2011680" cy="640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26187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58000" y="19385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AI triage 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vs 45 min manual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39712" y="2468880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90A4AE"/>
                </a:solidFill>
              </a:rPr>
              <a:t>From email received to approval request sent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321868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2044"/>
                </a:solidFill>
              </a:rPr>
              <a:t>BEFORE vs AFTER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547872"/>
          <a:ext cx="8503920" cy="1463040"/>
        </p:xfrm>
        <a:graphic>
          <a:graphicData uri="http://schemas.openxmlformats.org/drawingml/2006/table">
            <a:tbl>
              <a:tblPr/>
              <a:tblGrid>
                <a:gridCol w="2926080"/>
                <a:gridCol w="2788920"/>
                <a:gridCol w="278892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Activity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Before (Manual)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After (Automated)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Email triage &amp; classification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15–20 min per email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&lt; 30 seconds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RCA document creation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25–30 min per incident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Automatic on approval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KB / runbook lookup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10–15 min searching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Instant — injected by AI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Consistency of output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Varies by engineer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Standardised every time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Audit trail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Manual notes / memory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Auto-saved in SharePoint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KNOWLEDGE INTELLIGENCE — CONFLUENCE &amp; ROVO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690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06908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772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Option A — Confluence REST API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841248"/>
            <a:ext cx="777240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8412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ACTIVE NOW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374904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HTTP action calls Confluence search API directly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Uses CQL (search language) to find relevant pages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Scoped to specific spaces — ITSUP, RUNBOOKS, RCA library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Returns top 3 most relevant articles per incident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Page content injected into AI agent message as context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No additional licensing cost — uses existing Confluence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777240"/>
            <a:ext cx="40690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777240"/>
            <a:ext cx="4069080" cy="384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7772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Option B — Atlassian Rovo Agent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36992" y="841248"/>
            <a:ext cx="914400" cy="20116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36992" y="841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PREMIUM ADD-ON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937760" y="1261872"/>
            <a:ext cx="374904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Dedicated AI agent trained on your Confluence KB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Semantic search — understands meaning, not just keywords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Searches Confluence AND Jira tickets simultaneously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Returns a clean synthesised answer — not raw HTML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Retry loop sends reviewer's feedback back to Rovo for targeted re-search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50" dirty="0">
                <a:solidFill>
                  <a:srgbClr val="37474F"/>
                </a:solidFill>
              </a:rPr>
              <a:t>Requires Atlassian Premium/Enterprise + Rovo licence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4617720"/>
            <a:ext cx="4069080" cy="347472"/>
          </a:xfrm>
          <a:prstGeom prst="rect">
            <a:avLst/>
          </a:prstGeom>
          <a:solidFill>
            <a:srgbClr val="F57C00">
              <a:alpha val="85000"/>
            </a:srgbClr>
          </a:solidFill>
          <a:ln w="12700">
            <a:solidFill>
              <a:srgbClr val="F57C00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46177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74F"/>
                </a:solidFill>
              </a:rPr>
              <a:t>💡 Rovo is part of Atlassian Intelligence — check with your Atlassian admin if your current plan includes it before purchasing.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SAFEGUARDS — AI ASSISTS, HUMANS DECIDE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37474F"/>
                </a:solidFill>
              </a:rPr>
              <a:t>Every AI suggestion goes through human review before anything is sent or saved. The system is designed so engineers stay in full control.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788920" cy="1508760"/>
          </a:xfrm>
          <a:prstGeom prst="rect">
            <a:avLst/>
          </a:prstGeom>
          <a:solidFill>
            <a:srgbClr val="F4F6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99032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" y="146761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3990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Human Approval Gate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1947672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74F"/>
                </a:solidFill>
              </a:rPr>
              <a:t>Nothing is sent to users and no document is created until an engineer reviews and approves the AI output via Teams or email.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82112" y="1261872"/>
            <a:ext cx="2788920" cy="1508760"/>
          </a:xfrm>
          <a:prstGeom prst="rect">
            <a:avLst/>
          </a:prstGeom>
          <a:solidFill>
            <a:srgbClr val="F4F6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19272" y="1399032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852" y="146761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13990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Rejection Re-analysis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19272" y="1947672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74F"/>
                </a:solidFill>
              </a:rPr>
              <a:t>Reject the suggestion and type why — the AI re-analyses using your feedback. Up to 2 retries before it escalates to manual handling.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89904" y="1261872"/>
            <a:ext cx="2788920" cy="1508760"/>
          </a:xfrm>
          <a:prstGeom prst="rect">
            <a:avLst/>
          </a:prstGeom>
          <a:solidFill>
            <a:srgbClr val="F4F6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27064" y="1399032"/>
            <a:ext cx="502920" cy="5029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44" y="146761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39712" y="13990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Duplicate Prevention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27064" y="1947672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74F"/>
                </a:solidFill>
              </a:rPr>
              <a:t>Before creating any RCA, the system checks SharePoint. If a document for that incident already exists, it stops and alerts you.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274320" y="2926080"/>
            <a:ext cx="2788920" cy="1508760"/>
          </a:xfrm>
          <a:prstGeom prst="rect">
            <a:avLst/>
          </a:prstGeom>
          <a:solidFill>
            <a:srgbClr val="F4F6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11480" y="3063240"/>
            <a:ext cx="502920" cy="50292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" y="31318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24128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Confidence Transparency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11480" y="3611880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74F"/>
                </a:solidFill>
              </a:rPr>
              <a:t>The AI declares its own confidence as Low, Medium, or High. Low-confidence results show a bold warning on the approval card.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182112" y="2926080"/>
            <a:ext cx="2788920" cy="1508760"/>
          </a:xfrm>
          <a:prstGeom prst="rect">
            <a:avLst/>
          </a:prstGeom>
          <a:solidFill>
            <a:srgbClr val="F4F6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19272" y="3063240"/>
            <a:ext cx="502920" cy="50292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7852" y="313182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3192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Noise Filtering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319272" y="3611880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74F"/>
                </a:solidFill>
              </a:rPr>
              <a:t>System emails, auto-notifications, Power Automate approvals and Teams alerts are all automatically ignored — no false triggers.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089904" y="2926080"/>
            <a:ext cx="2788920" cy="1508760"/>
          </a:xfrm>
          <a:prstGeom prst="rect">
            <a:avLst/>
          </a:prstGeom>
          <a:solidFill>
            <a:srgbClr val="F4F6FA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27064" y="3063240"/>
            <a:ext cx="502920" cy="50292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644" y="313182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39712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P1 Escalation Alert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227064" y="3611880"/>
            <a:ext cx="25420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74F"/>
                </a:solidFill>
              </a:rPr>
              <a:t>Critical P1 incidents trigger an immediate Teams notification to the on-call channel — before the approval queue is even reviewed.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WHAT'S NEXT — FUTURE ENHANCEMENTS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27889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74980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170432"/>
            <a:ext cx="2788920" cy="54864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565C0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BMC Helix Auto-Ticket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74F"/>
                </a:solidFill>
              </a:rPr>
              <a:t>Automatically create &amp; update Helix tickets on approval via REST API — zero manual data entry.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2432304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2432304"/>
            <a:ext cx="2788920" cy="54864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565C0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2374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Group Review Routing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834640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74F"/>
                </a:solidFill>
              </a:rPr>
              <a:t>Route approvals to the right sub-team based on the affected system (Exchange, Network, Server).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" y="3694176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3694176"/>
            <a:ext cx="2788920" cy="54864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565C0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78561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Dedicated Email Folder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96512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74F"/>
                </a:solidFill>
              </a:rPr>
              <a:t>Outlook rule routes support emails to a dedicated folder — cleaner trigger, less noise.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749808"/>
            <a:ext cx="2788920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74980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1170432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170432"/>
            <a:ext cx="2788920" cy="54864"/>
          </a:xfrm>
          <a:prstGeom prst="rect">
            <a:avLst/>
          </a:prstGeom>
          <a:solidFill>
            <a:srgbClr val="00BCD4">
              <a:alpha val="70000"/>
            </a:srgbClr>
          </a:solidFill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126187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Power BI Dashboard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10128" y="1572768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74F"/>
                </a:solidFill>
              </a:rPr>
              <a:t>Live dashboard showing incident volumes, resolution times, top affected systems, and KB gap trends.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432304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432304"/>
            <a:ext cx="2788920" cy="54864"/>
          </a:xfrm>
          <a:prstGeom prst="rect">
            <a:avLst/>
          </a:prstGeom>
          <a:solidFill>
            <a:srgbClr val="00BCD4">
              <a:alpha val="70000"/>
            </a:srgbClr>
          </a:solidFill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252374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Weekly Digest Report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10128" y="2834640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74F"/>
                </a:solidFill>
              </a:rPr>
              <a:t>Scheduled flow emails a weekly summary of all incidents, RCAs created, and patterns detected.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0" y="3694176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3694176"/>
            <a:ext cx="2788920" cy="54864"/>
          </a:xfrm>
          <a:prstGeom prst="rect">
            <a:avLst/>
          </a:prstGeom>
          <a:solidFill>
            <a:srgbClr val="00BCD4">
              <a:alpha val="70000"/>
            </a:srgbClr>
          </a:solidFill>
          <a:ln w="12700">
            <a:solidFill>
              <a:srgbClr val="00BCD4">
                <a:alpha val="7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378561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Rovo Agent Upgrade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10128" y="4096512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74F"/>
                </a:solidFill>
              </a:rPr>
              <a:t>Replace Confluence REST API with a dedicated Rovo AI agent for richer, semantic KB search across Jira + Confluence.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44768" y="749808"/>
            <a:ext cx="278892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4768" y="749808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44768" y="1170432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44768" y="1170432"/>
            <a:ext cx="2788920" cy="54864"/>
          </a:xfrm>
          <a:prstGeom prst="rect">
            <a:avLst/>
          </a:prstGeom>
          <a:solidFill>
            <a:srgbClr val="00897B">
              <a:alpha val="70000"/>
            </a:srgbClr>
          </a:solidFill>
          <a:ln w="12700">
            <a:solidFill>
              <a:srgbClr val="00897B">
                <a:alpha val="7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1261872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Predictive Alerts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54496" y="1572768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74F"/>
                </a:solidFill>
              </a:rPr>
              <a:t>Pattern matching across RCA history to predict likely next incidents before they are reported.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44768" y="2432304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44768" y="2432304"/>
            <a:ext cx="2788920" cy="54864"/>
          </a:xfrm>
          <a:prstGeom prst="rect">
            <a:avLst/>
          </a:prstGeom>
          <a:solidFill>
            <a:srgbClr val="00897B">
              <a:alpha val="70000"/>
            </a:srgbClr>
          </a:solidFill>
          <a:ln w="12700">
            <a:solidFill>
              <a:srgbClr val="00897B">
                <a:alpha val="7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54496" y="2523744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Self-Healing Actions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54496" y="2834640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74F"/>
                </a:solidFill>
              </a:rPr>
              <a:t>For known P3/P4 issues with documented fixes — run the remediation script automatically, notify user.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44768" y="3694176"/>
            <a:ext cx="2788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44768" y="3694176"/>
            <a:ext cx="2788920" cy="54864"/>
          </a:xfrm>
          <a:prstGeom prst="rect">
            <a:avLst/>
          </a:prstGeom>
          <a:solidFill>
            <a:srgbClr val="00897B">
              <a:alpha val="70000"/>
            </a:srgbClr>
          </a:solidFill>
          <a:ln w="12700">
            <a:solidFill>
              <a:srgbClr val="00897B">
                <a:alpha val="7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54496" y="3785616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Knowledge Gap Auto-Filing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54496" y="4096512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74F"/>
                </a:solidFill>
              </a:rPr>
              <a:t>When AI flags a gap, automatically create a Confluence page draft for the KB team to fill in.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1E88E5">
              <a:alpha val="10000"/>
            </a:srgbClr>
          </a:solidFill>
          <a:ln w="12700">
            <a:solidFill>
              <a:srgbClr val="1E88E5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286000"/>
            <a:ext cx="3200400" cy="3200400"/>
          </a:xfrm>
          <a:prstGeom prst="ellipse">
            <a:avLst/>
          </a:prstGeom>
          <a:solidFill>
            <a:srgbClr val="00BCD4">
              <a:alpha val="12000"/>
            </a:srgbClr>
          </a:solidFill>
          <a:ln w="12700">
            <a:solidFill>
              <a:srgbClr val="00BCD4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CD4"/>
                </a:solidFill>
              </a:rPr>
              <a:t>THE IMPACT AT A GLANCE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822960"/>
            <a:ext cx="187452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1874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Reduction in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manual triage time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87752" y="822960"/>
            <a:ext cx="187452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87752" y="868680"/>
            <a:ext cx="1874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$38K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79192" y="169164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Annual cost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saving (AUD)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72584" y="822960"/>
            <a:ext cx="187452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2584" y="868680"/>
            <a:ext cx="1874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64024" y="169164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Consistent RCA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documentation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57416" y="822960"/>
            <a:ext cx="187452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57416" y="868680"/>
            <a:ext cx="1874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48856" y="169164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Incidents actioned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</a:rPr>
              <a:t>without human review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542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this means for the business: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2907792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CFD8DC"/>
                </a:solidFill>
              </a:rPr>
              <a:t>Engineers focus on complex problems — not repetitive email triage and document creation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CFD8DC"/>
                </a:solidFill>
              </a:rPr>
              <a:t>Faster resolution times mean less business disruption and better end-user experience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CFD8DC"/>
                </a:solidFill>
              </a:rPr>
              <a:t>Every incident is documented consistently — building an institutional knowledge base over time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CFD8DC"/>
                </a:solidFill>
              </a:rPr>
              <a:t>The system learns from rejections — each retry loop improves future analysis quality</a:t>
            </a:r>
            <a:endParaRPr lang="en-US" sz="11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100" dirty="0">
                <a:solidFill>
                  <a:srgbClr val="CFD8DC"/>
                </a:solidFill>
              </a:rPr>
              <a:t>Scales with volume — 50 incidents a week costs no more engineer time than 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457200"/>
            <a:ext cx="4572000" cy="4572000"/>
          </a:xfrm>
          <a:prstGeom prst="ellipse">
            <a:avLst/>
          </a:prstGeom>
          <a:solidFill>
            <a:srgbClr val="1E88E5">
              <a:alpha val="10000"/>
            </a:srgbClr>
          </a:solidFill>
          <a:ln w="12700">
            <a:solidFill>
              <a:srgbClr val="1E88E5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CD4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5029200" cy="2926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402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0BCD4"/>
                </a:solidFill>
              </a:rPr>
              <a:t>IMMEDIATE NEXT STEPS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489204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CFD8DC"/>
                </a:solidFill>
              </a:rPr>
              <a:t>Resolve Confluence API authentication (401) — confirm API token permissions with Atlassian admin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CFD8DC"/>
                </a:solidFill>
              </a:rPr>
              <a:t>Complete end-to-end test: live incident email → approval → RCA document creation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CFD8DC"/>
                </a:solidFill>
              </a:rPr>
              <a:t>Check with Atlassian admin whether Rovo is included in current licence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CFD8DC"/>
                </a:solidFill>
              </a:rPr>
              <a:t>Pilot with 2–3 weeks of real incidents, gather engineer feedback</a:t>
            </a:r>
            <a:endParaRPr lang="en-US" sz="105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CFD8DC"/>
                </a:solidFill>
              </a:rPr>
              <a:t>Socialise with L2 team — demo the approval workflow in Teams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89320" y="2240280"/>
            <a:ext cx="2834640" cy="2606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2331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CD4"/>
                </a:solidFill>
              </a:rPr>
              <a:t>Technology Used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2724912"/>
            <a:ext cx="26060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Microsoft Power Automate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Copilot Studio (AI Agent)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Confluence REST API / Rovo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SharePoint Online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Microsoft Teams Approvals</a:t>
            </a:r>
            <a:endParaRPr lang="en-US" sz="10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000" dirty="0">
                <a:solidFill>
                  <a:srgbClr val="B0BEC5"/>
                </a:solidFill>
              </a:rPr>
              <a:t>Office 365 Outlook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L2 Support AI Automation</dc:title>
  <dc:subject>PptxGenJS Presentation</dc:subject>
  <dc:creator>PptxGenJS</dc:creator>
  <cp:lastModifiedBy>PptxGenJS</cp:lastModifiedBy>
  <cp:revision>1</cp:revision>
  <dcterms:created xsi:type="dcterms:W3CDTF">2026-05-28T00:02:24Z</dcterms:created>
  <dcterms:modified xsi:type="dcterms:W3CDTF">2026-05-28T00:02:24Z</dcterms:modified>
</cp:coreProperties>
</file>
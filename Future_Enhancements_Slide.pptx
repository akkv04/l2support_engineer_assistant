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FFFF"/>
                </a:solidFill>
              </a:rPr>
              <a:t>FUTURE ENHANCEMENTS  —  ROADMAP &amp; INTEGRATIONS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64592" y="621792"/>
            <a:ext cx="28346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21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</a:rPr>
              <a:t>FLOW INTELLIGENCE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18688" y="621792"/>
            <a:ext cx="283464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18688" y="621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</a:rPr>
              <a:t>AI &amp; KNOWLEDGE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63640" y="621792"/>
            <a:ext cx="2834640" cy="2743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621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</a:rPr>
              <a:t>INTEGRATIONS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4592" y="94183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941832"/>
            <a:ext cx="50292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060704"/>
            <a:ext cx="384048" cy="384048"/>
          </a:xfrm>
          <a:prstGeom prst="ellipse">
            <a:avLst/>
          </a:prstGeom>
          <a:solidFill>
            <a:srgbClr val="1565C0">
              <a:alpha val="86000"/>
            </a:srgbClr>
          </a:solidFill>
          <a:ln w="12700">
            <a:solidFill>
              <a:srgbClr val="1565C0">
                <a:alpha val="8600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1115568"/>
            <a:ext cx="274320" cy="2743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157984" y="1033272"/>
            <a:ext cx="804672" cy="182880"/>
          </a:xfrm>
          <a:prstGeom prst="rect">
            <a:avLst/>
          </a:prstGeom>
          <a:solidFill>
            <a:srgbClr val="1E88E5">
              <a:alpha val="82000"/>
            </a:srgbClr>
          </a:solidFill>
          <a:ln w="12700">
            <a:solidFill>
              <a:srgbClr val="1E88E5">
                <a:alpha val="8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57984" y="103327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88E5"/>
                </a:solidFill>
              </a:rPr>
              <a:t>In Progress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731520" y="1005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Smarter Rejection Re-analysis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56032" y="1344168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On rejection, flow re-validates every field — classification, severity, KB match, resolution steps — not just re-runs the agent. Pinpoints exactly what the reviewer disagreed with.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64592" y="1975104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64592" y="1975104"/>
            <a:ext cx="50292" cy="9875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032" y="2093976"/>
            <a:ext cx="384048" cy="384048"/>
          </a:xfrm>
          <a:prstGeom prst="ellipse">
            <a:avLst/>
          </a:prstGeom>
          <a:solidFill>
            <a:srgbClr val="1E88E5">
              <a:alpha val="86000"/>
            </a:srgbClr>
          </a:solidFill>
          <a:ln w="12700">
            <a:solidFill>
              <a:srgbClr val="1E88E5">
                <a:alpha val="8600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48840"/>
            <a:ext cx="274320" cy="2743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2157984" y="2066544"/>
            <a:ext cx="804672" cy="182880"/>
          </a:xfrm>
          <a:prstGeom prst="rect">
            <a:avLst/>
          </a:prstGeom>
          <a:solidFill>
            <a:srgbClr val="00897B">
              <a:alpha val="82000"/>
            </a:srgbClr>
          </a:solidFill>
          <a:ln w="12700">
            <a:solidFill>
              <a:srgbClr val="00897B">
                <a:alpha val="82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157984" y="20665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897B"/>
                </a:solidFill>
              </a:rPr>
              <a:t>Quick Win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731520" y="20391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Dedicated Trigger Folder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56032" y="2377440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Outlook rule routes support emails to a dedicated L2 folder. Cleaner trigger, zero noise, and easy audit of what the flow has and hasn't processed.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164592" y="300837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164592" y="3008376"/>
            <a:ext cx="50292" cy="9875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56032" y="3127248"/>
            <a:ext cx="384048" cy="384048"/>
          </a:xfrm>
          <a:prstGeom prst="ellipse">
            <a:avLst/>
          </a:prstGeom>
          <a:solidFill>
            <a:srgbClr val="00BCD4">
              <a:alpha val="86000"/>
            </a:srgbClr>
          </a:solidFill>
          <a:ln w="12700">
            <a:solidFill>
              <a:srgbClr val="00BCD4">
                <a:alpha val="86000"/>
              </a:srgbClr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3182112"/>
            <a:ext cx="274320" cy="2743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2157984" y="3099816"/>
            <a:ext cx="804672" cy="182880"/>
          </a:xfrm>
          <a:prstGeom prst="rect">
            <a:avLst/>
          </a:prstGeom>
          <a:solidFill>
            <a:srgbClr val="00BCD4">
              <a:alpha val="82000"/>
            </a:srgbClr>
          </a:solidFill>
          <a:ln w="12700">
            <a:solidFill>
              <a:srgbClr val="00BCD4">
                <a:alpha val="82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157984" y="30998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BCD4"/>
                </a:solidFill>
              </a:rPr>
              <a:t>High Value</a:t>
            </a:r>
            <a:endParaRPr lang="en-US" sz="650" dirty="0"/>
          </a:p>
        </p:txBody>
      </p:sp>
      <p:sp>
        <p:nvSpPr>
          <p:cNvPr id="32" name="Text 27"/>
          <p:cNvSpPr/>
          <p:nvPr/>
        </p:nvSpPr>
        <p:spPr>
          <a:xfrm>
            <a:off x="731520" y="307238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Power BI Live Dashboard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256032" y="3410712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Real-time dashboard pulling from the SharePoint RCA library — incident volumes, top affected systems, MTTR trends, KB gap heatmap, and engineer workload over time.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164592" y="4041648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164592" y="4041648"/>
            <a:ext cx="50292" cy="9875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56032" y="4160520"/>
            <a:ext cx="384048" cy="384048"/>
          </a:xfrm>
          <a:prstGeom prst="ellipse">
            <a:avLst/>
          </a:prstGeom>
          <a:solidFill>
            <a:srgbClr val="6A1B9A">
              <a:alpha val="86000"/>
            </a:srgbClr>
          </a:solidFill>
          <a:ln w="12700">
            <a:solidFill>
              <a:srgbClr val="6A1B9A">
                <a:alpha val="8600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4215384"/>
            <a:ext cx="274320" cy="274320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2157984" y="4133088"/>
            <a:ext cx="804672" cy="182880"/>
          </a:xfrm>
          <a:prstGeom prst="rect">
            <a:avLst/>
          </a:prstGeom>
          <a:solidFill>
            <a:srgbClr val="6A1B9A">
              <a:alpha val="82000"/>
            </a:srgbClr>
          </a:solidFill>
          <a:ln w="12700">
            <a:solidFill>
              <a:srgbClr val="6A1B9A">
                <a:alpha val="82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157984" y="41330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A1B9A"/>
                </a:solidFill>
              </a:rPr>
              <a:t>Future</a:t>
            </a:r>
            <a:endParaRPr lang="en-US" sz="650" dirty="0"/>
          </a:p>
        </p:txBody>
      </p:sp>
      <p:sp>
        <p:nvSpPr>
          <p:cNvPr id="40" name="Text 34"/>
          <p:cNvSpPr/>
          <p:nvPr/>
        </p:nvSpPr>
        <p:spPr>
          <a:xfrm>
            <a:off x="731520" y="410565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Predictive Incident Alerts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256032" y="4443984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Pattern-match across RCA history to flag likely repeat incidents before they're reported. E.g. 'Exchange mail flow issues spike every Monday after weekend patching'.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3218688" y="94183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3218688" y="941832"/>
            <a:ext cx="50292" cy="9875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3310128" y="1060704"/>
            <a:ext cx="384048" cy="384048"/>
          </a:xfrm>
          <a:prstGeom prst="ellipse">
            <a:avLst/>
          </a:prstGeom>
          <a:solidFill>
            <a:srgbClr val="00BCD4">
              <a:alpha val="86000"/>
            </a:srgbClr>
          </a:solidFill>
          <a:ln w="12700">
            <a:solidFill>
              <a:srgbClr val="00BCD4">
                <a:alpha val="86000"/>
              </a:srgbClr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1115568"/>
            <a:ext cx="274320" cy="274320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5212080" y="1033272"/>
            <a:ext cx="804672" cy="182880"/>
          </a:xfrm>
          <a:prstGeom prst="rect">
            <a:avLst/>
          </a:prstGeom>
          <a:solidFill>
            <a:srgbClr val="00897B">
              <a:alpha val="82000"/>
            </a:srgbClr>
          </a:solidFill>
          <a:ln w="12700">
            <a:solidFill>
              <a:srgbClr val="00897B">
                <a:alpha val="82000"/>
              </a:srgbClr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212080" y="103327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897B"/>
                </a:solidFill>
              </a:rPr>
              <a:t>Recommended</a:t>
            </a:r>
            <a:endParaRPr lang="en-US" sz="650" dirty="0"/>
          </a:p>
        </p:txBody>
      </p:sp>
      <p:sp>
        <p:nvSpPr>
          <p:cNvPr id="48" name="Text 41"/>
          <p:cNvSpPr/>
          <p:nvPr/>
        </p:nvSpPr>
        <p:spPr>
          <a:xfrm>
            <a:off x="3785616" y="1005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Rovo Agent Integration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3310128" y="1344168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Replace Confluence REST API with a dedicated Atlassian Rovo AI agent. Semantic search across Confluence + Jira simultaneously. Returns synthesised answers — not raw HTML. Requires Atlassian Premium licence.</a:t>
            </a:r>
            <a:endParaRPr lang="en-US" sz="750" dirty="0"/>
          </a:p>
        </p:txBody>
      </p:sp>
      <p:sp>
        <p:nvSpPr>
          <p:cNvPr id="50" name="Shape 43"/>
          <p:cNvSpPr/>
          <p:nvPr/>
        </p:nvSpPr>
        <p:spPr>
          <a:xfrm>
            <a:off x="3218688" y="1975104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3218688" y="1975104"/>
            <a:ext cx="50292" cy="9875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3310128" y="2093976"/>
            <a:ext cx="384048" cy="384048"/>
          </a:xfrm>
          <a:prstGeom prst="ellipse">
            <a:avLst/>
          </a:prstGeom>
          <a:solidFill>
            <a:srgbClr val="00897B">
              <a:alpha val="86000"/>
            </a:srgbClr>
          </a:solidFill>
          <a:ln w="12700">
            <a:solidFill>
              <a:srgbClr val="00897B">
                <a:alpha val="86000"/>
              </a:srgbClr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2148840"/>
            <a:ext cx="274320" cy="274320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5212080" y="2066544"/>
            <a:ext cx="804672" cy="182880"/>
          </a:xfrm>
          <a:prstGeom prst="rect">
            <a:avLst/>
          </a:prstGeom>
          <a:solidFill>
            <a:srgbClr val="00897B">
              <a:alpha val="82000"/>
            </a:srgbClr>
          </a:solidFill>
          <a:ln w="12700">
            <a:solidFill>
              <a:srgbClr val="00897B">
                <a:alpha val="82000"/>
              </a:srgbClr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5212080" y="20665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897B"/>
                </a:solidFill>
              </a:rPr>
              <a:t>Quick Win</a:t>
            </a:r>
            <a:endParaRPr lang="en-US" sz="650" dirty="0"/>
          </a:p>
        </p:txBody>
      </p:sp>
      <p:sp>
        <p:nvSpPr>
          <p:cNvPr id="56" name="Text 48"/>
          <p:cNvSpPr/>
          <p:nvPr/>
        </p:nvSpPr>
        <p:spPr>
          <a:xfrm>
            <a:off x="3785616" y="20391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KB Gap Auto-Filing</a:t>
            </a:r>
            <a:endParaRPr lang="en-US" sz="950" dirty="0"/>
          </a:p>
        </p:txBody>
      </p:sp>
      <p:sp>
        <p:nvSpPr>
          <p:cNvPr id="57" name="Text 49"/>
          <p:cNvSpPr/>
          <p:nvPr/>
        </p:nvSpPr>
        <p:spPr>
          <a:xfrm>
            <a:off x="3310128" y="2377440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When the AI flags 'no relevant KB article found', automatically create a Confluence page draft for the KB team to fill in. Turns every gap into a knowledge improvement ticket.</a:t>
            </a:r>
            <a:endParaRPr lang="en-US" sz="750" dirty="0"/>
          </a:p>
        </p:txBody>
      </p:sp>
      <p:sp>
        <p:nvSpPr>
          <p:cNvPr id="58" name="Shape 50"/>
          <p:cNvSpPr/>
          <p:nvPr/>
        </p:nvSpPr>
        <p:spPr>
          <a:xfrm>
            <a:off x="3218688" y="300837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59" name="Shape 51"/>
          <p:cNvSpPr/>
          <p:nvPr/>
        </p:nvSpPr>
        <p:spPr>
          <a:xfrm>
            <a:off x="3218688" y="3008376"/>
            <a:ext cx="50292" cy="9875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3310128" y="3127248"/>
            <a:ext cx="384048" cy="384048"/>
          </a:xfrm>
          <a:prstGeom prst="ellipse">
            <a:avLst/>
          </a:prstGeom>
          <a:solidFill>
            <a:srgbClr val="F57C00">
              <a:alpha val="86000"/>
            </a:srgbClr>
          </a:solidFill>
          <a:ln w="12700">
            <a:solidFill>
              <a:srgbClr val="F57C00">
                <a:alpha val="86000"/>
              </a:srgbClr>
            </a:solidFill>
            <a:prstDash val="solid"/>
          </a:ln>
        </p:spPr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182112"/>
            <a:ext cx="274320" cy="274320"/>
          </a:xfrm>
          <a:prstGeom prst="rect">
            <a:avLst/>
          </a:prstGeom>
        </p:spPr>
      </p:pic>
      <p:sp>
        <p:nvSpPr>
          <p:cNvPr id="62" name="Shape 53"/>
          <p:cNvSpPr/>
          <p:nvPr/>
        </p:nvSpPr>
        <p:spPr>
          <a:xfrm>
            <a:off x="5212080" y="3099816"/>
            <a:ext cx="804672" cy="182880"/>
          </a:xfrm>
          <a:prstGeom prst="rect">
            <a:avLst/>
          </a:prstGeom>
          <a:solidFill>
            <a:srgbClr val="F57C00">
              <a:alpha val="82000"/>
            </a:srgbClr>
          </a:solidFill>
          <a:ln w="12700">
            <a:solidFill>
              <a:srgbClr val="F57C00">
                <a:alpha val="82000"/>
              </a:srgbClr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5212080" y="30998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7C00"/>
                </a:solidFill>
              </a:rPr>
              <a:t>High Value</a:t>
            </a:r>
            <a:endParaRPr lang="en-US" sz="650" dirty="0"/>
          </a:p>
        </p:txBody>
      </p:sp>
      <p:sp>
        <p:nvSpPr>
          <p:cNvPr id="64" name="Text 55"/>
          <p:cNvSpPr/>
          <p:nvPr/>
        </p:nvSpPr>
        <p:spPr>
          <a:xfrm>
            <a:off x="3785616" y="307238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Weekly Incident Digest</a:t>
            </a:r>
            <a:endParaRPr lang="en-US" sz="950" dirty="0"/>
          </a:p>
        </p:txBody>
      </p:sp>
      <p:sp>
        <p:nvSpPr>
          <p:cNvPr id="65" name="Text 56"/>
          <p:cNvSpPr/>
          <p:nvPr/>
        </p:nvSpPr>
        <p:spPr>
          <a:xfrm>
            <a:off x="3310128" y="3410712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Scheduled flow emails a weekly summary to the team — incidents handled, RCAs created, most common affected systems, and open knowledge gaps. Zero manual reporting effort.</a:t>
            </a:r>
            <a:endParaRPr lang="en-US" sz="750" dirty="0"/>
          </a:p>
        </p:txBody>
      </p:sp>
      <p:sp>
        <p:nvSpPr>
          <p:cNvPr id="66" name="Shape 57"/>
          <p:cNvSpPr/>
          <p:nvPr/>
        </p:nvSpPr>
        <p:spPr>
          <a:xfrm>
            <a:off x="3218688" y="4041648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67" name="Shape 58"/>
          <p:cNvSpPr/>
          <p:nvPr/>
        </p:nvSpPr>
        <p:spPr>
          <a:xfrm>
            <a:off x="3218688" y="4041648"/>
            <a:ext cx="50292" cy="9875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3310128" y="4160520"/>
            <a:ext cx="384048" cy="384048"/>
          </a:xfrm>
          <a:prstGeom prst="ellipse">
            <a:avLst/>
          </a:prstGeom>
          <a:solidFill>
            <a:srgbClr val="6A1B9A">
              <a:alpha val="86000"/>
            </a:srgbClr>
          </a:solidFill>
          <a:ln w="12700">
            <a:solidFill>
              <a:srgbClr val="6A1B9A">
                <a:alpha val="86000"/>
              </a:srgbClr>
            </a:solidFill>
            <a:prstDash val="solid"/>
          </a:ln>
        </p:spPr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4215384"/>
            <a:ext cx="274320" cy="274320"/>
          </a:xfrm>
          <a:prstGeom prst="rect">
            <a:avLst/>
          </a:prstGeom>
        </p:spPr>
      </p:pic>
      <p:sp>
        <p:nvSpPr>
          <p:cNvPr id="70" name="Shape 60"/>
          <p:cNvSpPr/>
          <p:nvPr/>
        </p:nvSpPr>
        <p:spPr>
          <a:xfrm>
            <a:off x="5212080" y="4133088"/>
            <a:ext cx="804672" cy="182880"/>
          </a:xfrm>
          <a:prstGeom prst="rect">
            <a:avLst/>
          </a:prstGeom>
          <a:solidFill>
            <a:srgbClr val="6A1B9A">
              <a:alpha val="82000"/>
            </a:srgbClr>
          </a:solidFill>
          <a:ln w="12700">
            <a:solidFill>
              <a:srgbClr val="6A1B9A">
                <a:alpha val="82000"/>
              </a:srgbClr>
            </a:solidFill>
            <a:prstDash val="solid"/>
          </a:ln>
        </p:spPr>
      </p:sp>
      <p:sp>
        <p:nvSpPr>
          <p:cNvPr id="71" name="Text 61"/>
          <p:cNvSpPr/>
          <p:nvPr/>
        </p:nvSpPr>
        <p:spPr>
          <a:xfrm>
            <a:off x="5212080" y="41330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A1B9A"/>
                </a:solidFill>
              </a:rPr>
              <a:t>Future</a:t>
            </a:r>
            <a:endParaRPr lang="en-US" sz="650" dirty="0"/>
          </a:p>
        </p:txBody>
      </p:sp>
      <p:sp>
        <p:nvSpPr>
          <p:cNvPr id="72" name="Text 62"/>
          <p:cNvSpPr/>
          <p:nvPr/>
        </p:nvSpPr>
        <p:spPr>
          <a:xfrm>
            <a:off x="3785616" y="410565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Self-Healing for Known Issues</a:t>
            </a:r>
            <a:endParaRPr lang="en-US" sz="950" dirty="0"/>
          </a:p>
        </p:txBody>
      </p:sp>
      <p:sp>
        <p:nvSpPr>
          <p:cNvPr id="73" name="Text 63"/>
          <p:cNvSpPr/>
          <p:nvPr/>
        </p:nvSpPr>
        <p:spPr>
          <a:xfrm>
            <a:off x="3310128" y="4443984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For P3/P4 issues with a confirmed fix script, run the remediation automatically on approval and notify the user. Removes human steps entirely for well-understood problems.</a:t>
            </a:r>
            <a:endParaRPr lang="en-US" sz="750" dirty="0"/>
          </a:p>
        </p:txBody>
      </p:sp>
      <p:sp>
        <p:nvSpPr>
          <p:cNvPr id="74" name="Shape 64"/>
          <p:cNvSpPr/>
          <p:nvPr/>
        </p:nvSpPr>
        <p:spPr>
          <a:xfrm>
            <a:off x="6263640" y="94183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75" name="Shape 65"/>
          <p:cNvSpPr/>
          <p:nvPr/>
        </p:nvSpPr>
        <p:spPr>
          <a:xfrm>
            <a:off x="6263640" y="941832"/>
            <a:ext cx="50292" cy="9875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6355080" y="1060704"/>
            <a:ext cx="384048" cy="384048"/>
          </a:xfrm>
          <a:prstGeom prst="ellipse">
            <a:avLst/>
          </a:prstGeom>
          <a:solidFill>
            <a:srgbClr val="C62828">
              <a:alpha val="86000"/>
            </a:srgbClr>
          </a:solidFill>
          <a:ln w="12700">
            <a:solidFill>
              <a:srgbClr val="C62828">
                <a:alpha val="86000"/>
              </a:srgbClr>
            </a:solidFill>
            <a:prstDash val="solid"/>
          </a:ln>
        </p:spPr>
      </p:sp>
      <p:pic>
        <p:nvPicPr>
          <p:cNvPr id="7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944" y="1115568"/>
            <a:ext cx="274320" cy="274320"/>
          </a:xfrm>
          <a:prstGeom prst="rect">
            <a:avLst/>
          </a:prstGeom>
        </p:spPr>
      </p:pic>
      <p:sp>
        <p:nvSpPr>
          <p:cNvPr id="78" name="Shape 67"/>
          <p:cNvSpPr/>
          <p:nvPr/>
        </p:nvSpPr>
        <p:spPr>
          <a:xfrm>
            <a:off x="8257032" y="1033272"/>
            <a:ext cx="804672" cy="182880"/>
          </a:xfrm>
          <a:prstGeom prst="rect">
            <a:avLst/>
          </a:prstGeom>
          <a:solidFill>
            <a:srgbClr val="F57C00">
              <a:alpha val="82000"/>
            </a:srgbClr>
          </a:solidFill>
          <a:ln w="12700">
            <a:solidFill>
              <a:srgbClr val="F57C00">
                <a:alpha val="82000"/>
              </a:srgbClr>
            </a:solidFill>
            <a:prstDash val="solid"/>
          </a:ln>
        </p:spPr>
      </p:sp>
      <p:sp>
        <p:nvSpPr>
          <p:cNvPr id="79" name="Text 68"/>
          <p:cNvSpPr/>
          <p:nvPr/>
        </p:nvSpPr>
        <p:spPr>
          <a:xfrm>
            <a:off x="8257032" y="103327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7C00"/>
                </a:solidFill>
              </a:rPr>
              <a:t>Planned</a:t>
            </a:r>
            <a:endParaRPr lang="en-US" sz="650" dirty="0"/>
          </a:p>
        </p:txBody>
      </p:sp>
      <p:sp>
        <p:nvSpPr>
          <p:cNvPr id="80" name="Text 69"/>
          <p:cNvSpPr/>
          <p:nvPr/>
        </p:nvSpPr>
        <p:spPr>
          <a:xfrm>
            <a:off x="6830568" y="1005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BMC Helix Auto-Ticket</a:t>
            </a:r>
            <a:endParaRPr lang="en-US" sz="950" dirty="0"/>
          </a:p>
        </p:txBody>
      </p:sp>
      <p:sp>
        <p:nvSpPr>
          <p:cNvPr id="81" name="Text 70"/>
          <p:cNvSpPr/>
          <p:nvPr/>
        </p:nvSpPr>
        <p:spPr>
          <a:xfrm>
            <a:off x="6355080" y="1344168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On approval, HTTP action calls Helix REST API to create or update the incident ticket automatically. Currently blocked — Helix API access not yet provisioned. Flagged with IT Ops.</a:t>
            </a:r>
            <a:endParaRPr lang="en-US" sz="750" dirty="0"/>
          </a:p>
        </p:txBody>
      </p:sp>
      <p:sp>
        <p:nvSpPr>
          <p:cNvPr id="82" name="Shape 71"/>
          <p:cNvSpPr/>
          <p:nvPr/>
        </p:nvSpPr>
        <p:spPr>
          <a:xfrm>
            <a:off x="6263640" y="1975104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83" name="Shape 72"/>
          <p:cNvSpPr/>
          <p:nvPr/>
        </p:nvSpPr>
        <p:spPr>
          <a:xfrm>
            <a:off x="6263640" y="1975104"/>
            <a:ext cx="50292" cy="98755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6355080" y="2093976"/>
            <a:ext cx="384048" cy="384048"/>
          </a:xfrm>
          <a:prstGeom prst="ellipse">
            <a:avLst/>
          </a:prstGeom>
          <a:solidFill>
            <a:srgbClr val="37474F">
              <a:alpha val="86000"/>
            </a:srgbClr>
          </a:solidFill>
          <a:ln w="12700">
            <a:solidFill>
              <a:srgbClr val="37474F">
                <a:alpha val="86000"/>
              </a:srgbClr>
            </a:solidFill>
            <a:prstDash val="solid"/>
          </a:ln>
        </p:spPr>
      </p:sp>
      <p:pic>
        <p:nvPicPr>
          <p:cNvPr id="8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2148840"/>
            <a:ext cx="274320" cy="274320"/>
          </a:xfrm>
          <a:prstGeom prst="rect">
            <a:avLst/>
          </a:prstGeom>
        </p:spPr>
      </p:pic>
      <p:sp>
        <p:nvSpPr>
          <p:cNvPr id="86" name="Shape 74"/>
          <p:cNvSpPr/>
          <p:nvPr/>
        </p:nvSpPr>
        <p:spPr>
          <a:xfrm>
            <a:off x="8257032" y="2066544"/>
            <a:ext cx="804672" cy="182880"/>
          </a:xfrm>
          <a:prstGeom prst="rect">
            <a:avLst/>
          </a:prstGeom>
          <a:solidFill>
            <a:srgbClr val="90A4AE">
              <a:alpha val="82000"/>
            </a:srgbClr>
          </a:solidFill>
          <a:ln w="12700">
            <a:solidFill>
              <a:srgbClr val="90A4AE">
                <a:alpha val="82000"/>
              </a:srgbClr>
            </a:solidFill>
            <a:prstDash val="solid"/>
          </a:ln>
        </p:spPr>
      </p:sp>
      <p:sp>
        <p:nvSpPr>
          <p:cNvPr id="87" name="Text 75"/>
          <p:cNvSpPr/>
          <p:nvPr/>
        </p:nvSpPr>
        <p:spPr>
          <a:xfrm>
            <a:off x="8257032" y="206654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0A4AE"/>
                </a:solidFill>
              </a:rPr>
              <a:t>On Request</a:t>
            </a:r>
            <a:endParaRPr lang="en-US" sz="650" dirty="0"/>
          </a:p>
        </p:txBody>
      </p:sp>
      <p:sp>
        <p:nvSpPr>
          <p:cNvPr id="88" name="Text 76"/>
          <p:cNvSpPr/>
          <p:nvPr/>
        </p:nvSpPr>
        <p:spPr>
          <a:xfrm>
            <a:off x="6830568" y="20391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GitHub / Azure DevOps</a:t>
            </a:r>
            <a:endParaRPr lang="en-US" sz="950" dirty="0"/>
          </a:p>
        </p:txBody>
      </p:sp>
      <p:sp>
        <p:nvSpPr>
          <p:cNvPr id="89" name="Text 77"/>
          <p:cNvSpPr/>
          <p:nvPr/>
        </p:nvSpPr>
        <p:spPr>
          <a:xfrm>
            <a:off x="6355080" y="2377440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For incidents linked to a recent code deployment, auto-raise a GitHub issue or Azure DevOps work item with the RCA summary attached. Links the incident back to the triggering commit.</a:t>
            </a:r>
            <a:endParaRPr lang="en-US" sz="750" dirty="0"/>
          </a:p>
        </p:txBody>
      </p:sp>
      <p:sp>
        <p:nvSpPr>
          <p:cNvPr id="90" name="Shape 78"/>
          <p:cNvSpPr/>
          <p:nvPr/>
        </p:nvSpPr>
        <p:spPr>
          <a:xfrm>
            <a:off x="6263640" y="300837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91" name="Shape 79"/>
          <p:cNvSpPr/>
          <p:nvPr/>
        </p:nvSpPr>
        <p:spPr>
          <a:xfrm>
            <a:off x="6263640" y="3008376"/>
            <a:ext cx="50292" cy="9875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6355080" y="3127248"/>
            <a:ext cx="384048" cy="384048"/>
          </a:xfrm>
          <a:prstGeom prst="ellipse">
            <a:avLst/>
          </a:prstGeom>
          <a:solidFill>
            <a:srgbClr val="F57C00">
              <a:alpha val="86000"/>
            </a:srgbClr>
          </a:solidFill>
          <a:ln w="12700">
            <a:solidFill>
              <a:srgbClr val="F57C00">
                <a:alpha val="86000"/>
              </a:srgbClr>
            </a:solidFill>
            <a:prstDash val="solid"/>
          </a:ln>
        </p:spPr>
      </p:sp>
      <p:pic>
        <p:nvPicPr>
          <p:cNvPr id="9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9944" y="3182112"/>
            <a:ext cx="274320" cy="274320"/>
          </a:xfrm>
          <a:prstGeom prst="rect">
            <a:avLst/>
          </a:prstGeom>
        </p:spPr>
      </p:pic>
      <p:sp>
        <p:nvSpPr>
          <p:cNvPr id="94" name="Shape 81"/>
          <p:cNvSpPr/>
          <p:nvPr/>
        </p:nvSpPr>
        <p:spPr>
          <a:xfrm>
            <a:off x="8257032" y="3099816"/>
            <a:ext cx="804672" cy="182880"/>
          </a:xfrm>
          <a:prstGeom prst="rect">
            <a:avLst/>
          </a:prstGeom>
          <a:solidFill>
            <a:srgbClr val="90A4AE">
              <a:alpha val="82000"/>
            </a:srgbClr>
          </a:solidFill>
          <a:ln w="12700">
            <a:solidFill>
              <a:srgbClr val="90A4AE">
                <a:alpha val="82000"/>
              </a:srgbClr>
            </a:solidFill>
            <a:prstDash val="solid"/>
          </a:ln>
        </p:spPr>
      </p:sp>
      <p:sp>
        <p:nvSpPr>
          <p:cNvPr id="95" name="Text 82"/>
          <p:cNvSpPr/>
          <p:nvPr/>
        </p:nvSpPr>
        <p:spPr>
          <a:xfrm>
            <a:off x="8257032" y="30998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0A4AE"/>
                </a:solidFill>
              </a:rPr>
              <a:t>On Request</a:t>
            </a:r>
            <a:endParaRPr lang="en-US" sz="650" dirty="0"/>
          </a:p>
        </p:txBody>
      </p:sp>
      <p:sp>
        <p:nvSpPr>
          <p:cNvPr id="96" name="Text 83"/>
          <p:cNvSpPr/>
          <p:nvPr/>
        </p:nvSpPr>
        <p:spPr>
          <a:xfrm>
            <a:off x="6830568" y="307238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AWS / Cloud Alerts</a:t>
            </a:r>
            <a:endParaRPr lang="en-US" sz="950" dirty="0"/>
          </a:p>
        </p:txBody>
      </p:sp>
      <p:sp>
        <p:nvSpPr>
          <p:cNvPr id="97" name="Text 84"/>
          <p:cNvSpPr/>
          <p:nvPr/>
        </p:nvSpPr>
        <p:spPr>
          <a:xfrm>
            <a:off x="6355080" y="3410712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Ingest CloudWatch or AWS Health Dashboard alerts directly into the flow. AI classifies cloud infrastructure incidents the same way as email-reported ones, with auto-RCA and KB lookup.</a:t>
            </a:r>
            <a:endParaRPr lang="en-US" sz="750" dirty="0"/>
          </a:p>
        </p:txBody>
      </p:sp>
      <p:sp>
        <p:nvSpPr>
          <p:cNvPr id="98" name="Shape 85"/>
          <p:cNvSpPr/>
          <p:nvPr/>
        </p:nvSpPr>
        <p:spPr>
          <a:xfrm>
            <a:off x="6263640" y="4041648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1000"/>
              </a:srgbClr>
            </a:outerShdw>
          </a:effectLst>
        </p:spPr>
      </p:sp>
      <p:sp>
        <p:nvSpPr>
          <p:cNvPr id="99" name="Shape 86"/>
          <p:cNvSpPr/>
          <p:nvPr/>
        </p:nvSpPr>
        <p:spPr>
          <a:xfrm>
            <a:off x="6263640" y="4041648"/>
            <a:ext cx="50292" cy="9875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0" name="Shape 87"/>
          <p:cNvSpPr/>
          <p:nvPr/>
        </p:nvSpPr>
        <p:spPr>
          <a:xfrm>
            <a:off x="6355080" y="4160520"/>
            <a:ext cx="384048" cy="384048"/>
          </a:xfrm>
          <a:prstGeom prst="ellipse">
            <a:avLst/>
          </a:prstGeom>
          <a:solidFill>
            <a:srgbClr val="C62828">
              <a:alpha val="86000"/>
            </a:srgbClr>
          </a:solidFill>
          <a:ln w="12700">
            <a:solidFill>
              <a:srgbClr val="C62828">
                <a:alpha val="86000"/>
              </a:srgbClr>
            </a:solidFill>
            <a:prstDash val="solid"/>
          </a:ln>
        </p:spPr>
      </p:sp>
      <p:pic>
        <p:nvPicPr>
          <p:cNvPr id="10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9944" y="4215384"/>
            <a:ext cx="274320" cy="274320"/>
          </a:xfrm>
          <a:prstGeom prst="rect">
            <a:avLst/>
          </a:prstGeom>
        </p:spPr>
      </p:pic>
      <p:sp>
        <p:nvSpPr>
          <p:cNvPr id="102" name="Shape 88"/>
          <p:cNvSpPr/>
          <p:nvPr/>
        </p:nvSpPr>
        <p:spPr>
          <a:xfrm>
            <a:off x="8257032" y="4133088"/>
            <a:ext cx="804672" cy="182880"/>
          </a:xfrm>
          <a:prstGeom prst="rect">
            <a:avLst/>
          </a:prstGeom>
          <a:solidFill>
            <a:srgbClr val="90A4AE">
              <a:alpha val="82000"/>
            </a:srgbClr>
          </a:solidFill>
          <a:ln w="12700">
            <a:solidFill>
              <a:srgbClr val="90A4AE">
                <a:alpha val="82000"/>
              </a:srgbClr>
            </a:solidFill>
            <a:prstDash val="solid"/>
          </a:ln>
        </p:spPr>
      </p:sp>
      <p:sp>
        <p:nvSpPr>
          <p:cNvPr id="103" name="Text 89"/>
          <p:cNvSpPr/>
          <p:nvPr/>
        </p:nvSpPr>
        <p:spPr>
          <a:xfrm>
            <a:off x="8257032" y="41330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0A4AE"/>
                </a:solidFill>
              </a:rPr>
              <a:t>On Request</a:t>
            </a:r>
            <a:endParaRPr lang="en-US" sz="650" dirty="0"/>
          </a:p>
        </p:txBody>
      </p:sp>
      <p:sp>
        <p:nvSpPr>
          <p:cNvPr id="104" name="Text 90"/>
          <p:cNvSpPr/>
          <p:nvPr/>
        </p:nvSpPr>
        <p:spPr>
          <a:xfrm>
            <a:off x="6830568" y="410565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Splunk Log Integration</a:t>
            </a:r>
            <a:endParaRPr lang="en-US" sz="950" dirty="0"/>
          </a:p>
        </p:txBody>
      </p:sp>
      <p:sp>
        <p:nvSpPr>
          <p:cNvPr id="105" name="Text 91"/>
          <p:cNvSpPr/>
          <p:nvPr/>
        </p:nvSpPr>
        <p:spPr>
          <a:xfrm>
            <a:off x="6355080" y="4443984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37474F"/>
                </a:solidFill>
              </a:rPr>
              <a:t>Pull relevant Splunk log excerpts at incident time and attach them to the RCA document automatically. Gives the approving engineer log context without leaving the approval card.</a:t>
            </a:r>
            <a:endParaRPr lang="en-US" sz="750" dirty="0"/>
          </a:p>
        </p:txBody>
      </p:sp>
      <p:sp>
        <p:nvSpPr>
          <p:cNvPr id="106" name="Shape 92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0F2044">
              <a:alpha val="92000"/>
            </a:srgbClr>
          </a:solidFill>
          <a:ln w="12700">
            <a:solidFill>
              <a:srgbClr val="0F2044">
                <a:alpha val="92000"/>
              </a:srgbClr>
            </a:solidFill>
            <a:prstDash val="solid"/>
          </a:ln>
        </p:spPr>
      </p:sp>
      <p:sp>
        <p:nvSpPr>
          <p:cNvPr id="107" name="Shape 93"/>
          <p:cNvSpPr/>
          <p:nvPr/>
        </p:nvSpPr>
        <p:spPr>
          <a:xfrm>
            <a:off x="228600" y="4896612"/>
            <a:ext cx="566928" cy="150876"/>
          </a:xfrm>
          <a:prstGeom prst="rect">
            <a:avLst/>
          </a:prstGeom>
          <a:solidFill>
            <a:srgbClr val="00897B">
              <a:alpha val="82000"/>
            </a:srgbClr>
          </a:solidFill>
          <a:ln w="12700">
            <a:solidFill>
              <a:srgbClr val="00897B">
                <a:alpha val="82000"/>
              </a:srgbClr>
            </a:solidFill>
            <a:prstDash val="solid"/>
          </a:ln>
        </p:spPr>
      </p:sp>
      <p:sp>
        <p:nvSpPr>
          <p:cNvPr id="108" name="Text 94"/>
          <p:cNvSpPr/>
          <p:nvPr/>
        </p:nvSpPr>
        <p:spPr>
          <a:xfrm>
            <a:off x="228600" y="4896612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0897B"/>
                </a:solidFill>
              </a:rPr>
              <a:t>Quick Win</a:t>
            </a:r>
            <a:endParaRPr lang="en-US" sz="580" dirty="0"/>
          </a:p>
        </p:txBody>
      </p:sp>
      <p:sp>
        <p:nvSpPr>
          <p:cNvPr id="109" name="Text 95"/>
          <p:cNvSpPr/>
          <p:nvPr/>
        </p:nvSpPr>
        <p:spPr>
          <a:xfrm>
            <a:off x="822960" y="4896612"/>
            <a:ext cx="8595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Can be done now, low effort</a:t>
            </a:r>
            <a:endParaRPr lang="en-US" sz="620" dirty="0"/>
          </a:p>
        </p:txBody>
      </p:sp>
      <p:sp>
        <p:nvSpPr>
          <p:cNvPr id="110" name="Shape 96"/>
          <p:cNvSpPr/>
          <p:nvPr/>
        </p:nvSpPr>
        <p:spPr>
          <a:xfrm>
            <a:off x="1719072" y="4896612"/>
            <a:ext cx="566928" cy="150876"/>
          </a:xfrm>
          <a:prstGeom prst="rect">
            <a:avLst/>
          </a:prstGeom>
          <a:solidFill>
            <a:srgbClr val="00BCD4">
              <a:alpha val="82000"/>
            </a:srgbClr>
          </a:solidFill>
          <a:ln w="12700">
            <a:solidFill>
              <a:srgbClr val="00BCD4">
                <a:alpha val="82000"/>
              </a:srgbClr>
            </a:solidFill>
            <a:prstDash val="solid"/>
          </a:ln>
        </p:spPr>
      </p:sp>
      <p:sp>
        <p:nvSpPr>
          <p:cNvPr id="111" name="Text 97"/>
          <p:cNvSpPr/>
          <p:nvPr/>
        </p:nvSpPr>
        <p:spPr>
          <a:xfrm>
            <a:off x="1719072" y="4896612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0BCD4"/>
                </a:solidFill>
              </a:rPr>
              <a:t>High Value</a:t>
            </a:r>
            <a:endParaRPr lang="en-US" sz="580" dirty="0"/>
          </a:p>
        </p:txBody>
      </p:sp>
      <p:sp>
        <p:nvSpPr>
          <p:cNvPr id="112" name="Text 98"/>
          <p:cNvSpPr/>
          <p:nvPr/>
        </p:nvSpPr>
        <p:spPr>
          <a:xfrm>
            <a:off x="2313432" y="4896612"/>
            <a:ext cx="8595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Significant business impact</a:t>
            </a:r>
            <a:endParaRPr lang="en-US" sz="620" dirty="0"/>
          </a:p>
        </p:txBody>
      </p:sp>
      <p:sp>
        <p:nvSpPr>
          <p:cNvPr id="113" name="Shape 99"/>
          <p:cNvSpPr/>
          <p:nvPr/>
        </p:nvSpPr>
        <p:spPr>
          <a:xfrm>
            <a:off x="3209544" y="4896612"/>
            <a:ext cx="566928" cy="150876"/>
          </a:xfrm>
          <a:prstGeom prst="rect">
            <a:avLst/>
          </a:prstGeom>
          <a:solidFill>
            <a:srgbClr val="00897B">
              <a:alpha val="82000"/>
            </a:srgbClr>
          </a:solidFill>
          <a:ln w="12700">
            <a:solidFill>
              <a:srgbClr val="00897B">
                <a:alpha val="82000"/>
              </a:srgbClr>
            </a:solidFill>
            <a:prstDash val="solid"/>
          </a:ln>
        </p:spPr>
      </p:sp>
      <p:sp>
        <p:nvSpPr>
          <p:cNvPr id="114" name="Text 100"/>
          <p:cNvSpPr/>
          <p:nvPr/>
        </p:nvSpPr>
        <p:spPr>
          <a:xfrm>
            <a:off x="3209544" y="4896612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0897B"/>
                </a:solidFill>
              </a:rPr>
              <a:t>Recommended</a:t>
            </a:r>
            <a:endParaRPr lang="en-US" sz="580" dirty="0"/>
          </a:p>
        </p:txBody>
      </p:sp>
      <p:sp>
        <p:nvSpPr>
          <p:cNvPr id="115" name="Text 101"/>
          <p:cNvSpPr/>
          <p:nvPr/>
        </p:nvSpPr>
        <p:spPr>
          <a:xfrm>
            <a:off x="3803904" y="4896612"/>
            <a:ext cx="8595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Advised next step</a:t>
            </a:r>
            <a:endParaRPr lang="en-US" sz="620" dirty="0"/>
          </a:p>
        </p:txBody>
      </p:sp>
      <p:sp>
        <p:nvSpPr>
          <p:cNvPr id="116" name="Shape 102"/>
          <p:cNvSpPr/>
          <p:nvPr/>
        </p:nvSpPr>
        <p:spPr>
          <a:xfrm>
            <a:off x="4700016" y="4896612"/>
            <a:ext cx="566928" cy="150876"/>
          </a:xfrm>
          <a:prstGeom prst="rect">
            <a:avLst/>
          </a:prstGeom>
          <a:solidFill>
            <a:srgbClr val="F57C00">
              <a:alpha val="82000"/>
            </a:srgbClr>
          </a:solidFill>
          <a:ln w="12700">
            <a:solidFill>
              <a:srgbClr val="F57C00">
                <a:alpha val="82000"/>
              </a:srgbClr>
            </a:solidFill>
            <a:prstDash val="solid"/>
          </a:ln>
        </p:spPr>
      </p:sp>
      <p:sp>
        <p:nvSpPr>
          <p:cNvPr id="117" name="Text 103"/>
          <p:cNvSpPr/>
          <p:nvPr/>
        </p:nvSpPr>
        <p:spPr>
          <a:xfrm>
            <a:off x="4700016" y="4896612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57C00"/>
                </a:solidFill>
              </a:rPr>
              <a:t>Planned</a:t>
            </a:r>
            <a:endParaRPr lang="en-US" sz="580" dirty="0"/>
          </a:p>
        </p:txBody>
      </p:sp>
      <p:sp>
        <p:nvSpPr>
          <p:cNvPr id="118" name="Text 104"/>
          <p:cNvSpPr/>
          <p:nvPr/>
        </p:nvSpPr>
        <p:spPr>
          <a:xfrm>
            <a:off x="5294376" y="4896612"/>
            <a:ext cx="8595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Blocked — dependency pending</a:t>
            </a:r>
            <a:endParaRPr lang="en-US" sz="620" dirty="0"/>
          </a:p>
        </p:txBody>
      </p:sp>
      <p:sp>
        <p:nvSpPr>
          <p:cNvPr id="119" name="Shape 105"/>
          <p:cNvSpPr/>
          <p:nvPr/>
        </p:nvSpPr>
        <p:spPr>
          <a:xfrm>
            <a:off x="6190488" y="4896612"/>
            <a:ext cx="566928" cy="150876"/>
          </a:xfrm>
          <a:prstGeom prst="rect">
            <a:avLst/>
          </a:prstGeom>
          <a:solidFill>
            <a:srgbClr val="90A4AE">
              <a:alpha val="82000"/>
            </a:srgbClr>
          </a:solidFill>
          <a:ln w="12700">
            <a:solidFill>
              <a:srgbClr val="90A4AE">
                <a:alpha val="82000"/>
              </a:srgbClr>
            </a:solidFill>
            <a:prstDash val="solid"/>
          </a:ln>
        </p:spPr>
      </p:sp>
      <p:sp>
        <p:nvSpPr>
          <p:cNvPr id="120" name="Text 106"/>
          <p:cNvSpPr/>
          <p:nvPr/>
        </p:nvSpPr>
        <p:spPr>
          <a:xfrm>
            <a:off x="6190488" y="4896612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90A4AE"/>
                </a:solidFill>
              </a:rPr>
              <a:t>On Request</a:t>
            </a:r>
            <a:endParaRPr lang="en-US" sz="580" dirty="0"/>
          </a:p>
        </p:txBody>
      </p:sp>
      <p:sp>
        <p:nvSpPr>
          <p:cNvPr id="121" name="Text 107"/>
          <p:cNvSpPr/>
          <p:nvPr/>
        </p:nvSpPr>
        <p:spPr>
          <a:xfrm>
            <a:off x="6784848" y="4896612"/>
            <a:ext cx="8595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Available when needed</a:t>
            </a:r>
            <a:endParaRPr lang="en-US" sz="620" dirty="0"/>
          </a:p>
        </p:txBody>
      </p:sp>
      <p:sp>
        <p:nvSpPr>
          <p:cNvPr id="122" name="Shape 108"/>
          <p:cNvSpPr/>
          <p:nvPr/>
        </p:nvSpPr>
        <p:spPr>
          <a:xfrm>
            <a:off x="7680960" y="4896612"/>
            <a:ext cx="566928" cy="150876"/>
          </a:xfrm>
          <a:prstGeom prst="rect">
            <a:avLst/>
          </a:prstGeom>
          <a:solidFill>
            <a:srgbClr val="6A1B9A">
              <a:alpha val="82000"/>
            </a:srgbClr>
          </a:solidFill>
          <a:ln w="12700">
            <a:solidFill>
              <a:srgbClr val="6A1B9A">
                <a:alpha val="82000"/>
              </a:srgbClr>
            </a:solidFill>
            <a:prstDash val="solid"/>
          </a:ln>
        </p:spPr>
      </p:sp>
      <p:sp>
        <p:nvSpPr>
          <p:cNvPr id="123" name="Text 109"/>
          <p:cNvSpPr/>
          <p:nvPr/>
        </p:nvSpPr>
        <p:spPr>
          <a:xfrm>
            <a:off x="7680960" y="4896612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A1B9A"/>
                </a:solidFill>
              </a:rPr>
              <a:t>Future</a:t>
            </a:r>
            <a:endParaRPr lang="en-US" sz="580" dirty="0"/>
          </a:p>
        </p:txBody>
      </p:sp>
      <p:sp>
        <p:nvSpPr>
          <p:cNvPr id="124" name="Text 110"/>
          <p:cNvSpPr/>
          <p:nvPr/>
        </p:nvSpPr>
        <p:spPr>
          <a:xfrm>
            <a:off x="8275320" y="4896612"/>
            <a:ext cx="8595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Longer-term innovation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2026-05-28T00:28:19Z</dcterms:created>
  <dcterms:modified xsi:type="dcterms:W3CDTF">2026-05-28T00:28:19Z</dcterms:modified>
</cp:coreProperties>
</file>
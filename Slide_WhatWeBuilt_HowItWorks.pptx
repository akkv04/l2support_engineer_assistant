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WHAT WE BUILT &amp; HOW IT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95160" y="91440"/>
            <a:ext cx="1965960" cy="38404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91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⚗  PROOF OF 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37474F"/>
                </a:solidFill>
              </a:rPr>
              <a:t>An end-to-end automated pipeline — currently a PoC — that watches for IT support emails, analyses them with AI, retrieves knowledge from Confluence, and manages the full resolution lifecycle with a human in the loop.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3796" y="1207008"/>
            <a:ext cx="36576" cy="2743200"/>
          </a:xfrm>
          <a:prstGeom prst="rect">
            <a:avLst/>
          </a:prstGeom>
          <a:solidFill>
            <a:srgbClr val="D0D7E2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15568"/>
            <a:ext cx="530352" cy="5303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115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1152144"/>
            <a:ext cx="3246120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152144"/>
            <a:ext cx="457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1170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Email Arrives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15568" y="138988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DL mailbox trigger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1773936"/>
            <a:ext cx="530352" cy="53035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1810512"/>
            <a:ext cx="3246120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1810512"/>
            <a:ext cx="457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1828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Filter &amp; Search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5568" y="204825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Noise filter + Confluence KB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432304"/>
            <a:ext cx="530352" cy="5303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24323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5840" y="2468880"/>
            <a:ext cx="3246120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2468880"/>
            <a:ext cx="4572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24871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AI Analysis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15568" y="27066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Copilot Studio → structured JSON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3090672"/>
            <a:ext cx="530352" cy="5303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3090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05840" y="3127248"/>
            <a:ext cx="3246120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3127248"/>
            <a:ext cx="457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31455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Human Approval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15568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Teams/email approval card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" y="3749040"/>
            <a:ext cx="530352" cy="530352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7472" y="3749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05840" y="3785616"/>
            <a:ext cx="3246120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3785616"/>
            <a:ext cx="4572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5568" y="3803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Reply + RCA Doc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15568" y="40233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Auto-send + SharePoint save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7472" y="4553712"/>
            <a:ext cx="969264" cy="256032"/>
          </a:xfrm>
          <a:prstGeom prst="rect">
            <a:avLst/>
          </a:prstGeom>
          <a:solidFill>
            <a:srgbClr val="1565C0">
              <a:alpha val="86000"/>
            </a:srgbClr>
          </a:solidFill>
          <a:ln w="12700">
            <a:solidFill>
              <a:srgbClr val="1565C0">
                <a:alpha val="86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55371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65C0"/>
                </a:solidFill>
              </a:rPr>
              <a:t>Noise Filter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1380744" y="4553712"/>
            <a:ext cx="969264" cy="256032"/>
          </a:xfrm>
          <a:prstGeom prst="rect">
            <a:avLst/>
          </a:prstGeom>
          <a:solidFill>
            <a:srgbClr val="1E88E5">
              <a:alpha val="86000"/>
            </a:srgbClr>
          </a:solidFill>
          <a:ln w="12700">
            <a:solidFill>
              <a:srgbClr val="1E88E5">
                <a:alpha val="86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80744" y="455371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E88E5"/>
                </a:solidFill>
              </a:rPr>
              <a:t>Reject &amp; Retry ×2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2414016" y="4553712"/>
            <a:ext cx="969264" cy="256032"/>
          </a:xfrm>
          <a:prstGeom prst="rect">
            <a:avLst/>
          </a:prstGeom>
          <a:solidFill>
            <a:srgbClr val="00897B">
              <a:alpha val="86000"/>
            </a:srgbClr>
          </a:solidFill>
          <a:ln w="12700">
            <a:solidFill>
              <a:srgbClr val="00897B">
                <a:alpha val="86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14016" y="455371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97B"/>
                </a:solidFill>
              </a:rPr>
              <a:t>Duplicate Guard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447288" y="4553712"/>
            <a:ext cx="969264" cy="256032"/>
          </a:xfrm>
          <a:prstGeom prst="rect">
            <a:avLst/>
          </a:prstGeom>
          <a:solidFill>
            <a:srgbClr val="00BCD4">
              <a:alpha val="86000"/>
            </a:srgbClr>
          </a:solidFill>
          <a:ln w="12700">
            <a:solidFill>
              <a:srgbClr val="00BCD4">
                <a:alpha val="86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47288" y="455371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BCD4"/>
                </a:solidFill>
              </a:rPr>
              <a:t>Confidence Score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480560" y="1078992"/>
            <a:ext cx="27432" cy="3767328"/>
          </a:xfrm>
          <a:prstGeom prst="rect">
            <a:avLst/>
          </a:prstGeom>
          <a:solidFill>
            <a:srgbClr val="D0D7E2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1078992"/>
            <a:ext cx="4315968" cy="20848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54880" y="113385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What the AI Returns  (per incident)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70916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Classification (Incident / Noise…)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09160" y="1792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Affected system &amp; users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0916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Severity — P1 to P4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09160" y="2414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Confidence — Low / Medium / High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09160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Probable root cause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39712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Step-by-step resolution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839712" y="1792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RCA summary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39712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Knowledge sources used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39712" y="2414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Knowledge gaps flagged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39712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✦  Corrective actions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663440" y="325526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Key Safeguards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63440" y="3566160"/>
            <a:ext cx="2084832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36592" y="3657600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312" y="3703320"/>
            <a:ext cx="274320" cy="274320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5175504" y="3621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Human Gate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5175504" y="3840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Nothing sent until engineer approves via Teams</a:t>
            </a:r>
            <a:endParaRPr lang="en-US" sz="780" dirty="0"/>
          </a:p>
        </p:txBody>
      </p:sp>
      <p:sp>
        <p:nvSpPr>
          <p:cNvPr id="65" name="Shape 62"/>
          <p:cNvSpPr/>
          <p:nvPr/>
        </p:nvSpPr>
        <p:spPr>
          <a:xfrm>
            <a:off x="6858000" y="3566160"/>
            <a:ext cx="2084832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931152" y="3657600"/>
            <a:ext cx="365760" cy="36576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6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703320"/>
            <a:ext cx="274320" cy="274320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7370064" y="3621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Retry on Reject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7370064" y="3840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Re-analyses with reviewer feedback — up to 2×</a:t>
            </a:r>
            <a:endParaRPr lang="en-US" sz="780" dirty="0"/>
          </a:p>
        </p:txBody>
      </p:sp>
      <p:sp>
        <p:nvSpPr>
          <p:cNvPr id="70" name="Shape 66"/>
          <p:cNvSpPr/>
          <p:nvPr/>
        </p:nvSpPr>
        <p:spPr>
          <a:xfrm>
            <a:off x="4663440" y="4224528"/>
            <a:ext cx="2084832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7"/>
          <p:cNvSpPr/>
          <p:nvPr/>
        </p:nvSpPr>
        <p:spPr>
          <a:xfrm>
            <a:off x="4736592" y="4315968"/>
            <a:ext cx="365760" cy="36576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7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4361688"/>
            <a:ext cx="274320" cy="274320"/>
          </a:xfrm>
          <a:prstGeom prst="rect">
            <a:avLst/>
          </a:prstGeom>
        </p:spPr>
      </p:pic>
      <p:sp>
        <p:nvSpPr>
          <p:cNvPr id="73" name="Text 68"/>
          <p:cNvSpPr/>
          <p:nvPr/>
        </p:nvSpPr>
        <p:spPr>
          <a:xfrm>
            <a:off x="5175504" y="4279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No Duplicates</a:t>
            </a:r>
            <a:endParaRPr lang="en-US" sz="900" dirty="0"/>
          </a:p>
        </p:txBody>
      </p:sp>
      <p:sp>
        <p:nvSpPr>
          <p:cNvPr id="74" name="Text 69"/>
          <p:cNvSpPr/>
          <p:nvPr/>
        </p:nvSpPr>
        <p:spPr>
          <a:xfrm>
            <a:off x="5175504" y="44988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Checks SharePoint before creating any RCA doc</a:t>
            </a:r>
            <a:endParaRPr lang="en-US" sz="780" dirty="0"/>
          </a:p>
        </p:txBody>
      </p:sp>
      <p:sp>
        <p:nvSpPr>
          <p:cNvPr id="75" name="Shape 70"/>
          <p:cNvSpPr/>
          <p:nvPr/>
        </p:nvSpPr>
        <p:spPr>
          <a:xfrm>
            <a:off x="6858000" y="4224528"/>
            <a:ext cx="2084832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6" name="Shape 71"/>
          <p:cNvSpPr/>
          <p:nvPr/>
        </p:nvSpPr>
        <p:spPr>
          <a:xfrm>
            <a:off x="6931152" y="4315968"/>
            <a:ext cx="365760" cy="36576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4361688"/>
            <a:ext cx="274320" cy="274320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7370064" y="4279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Confidence Flag</a:t>
            </a:r>
            <a:endParaRPr lang="en-US" sz="900" dirty="0"/>
          </a:p>
        </p:txBody>
      </p:sp>
      <p:sp>
        <p:nvSpPr>
          <p:cNvPr id="79" name="Text 73"/>
          <p:cNvSpPr/>
          <p:nvPr/>
        </p:nvSpPr>
        <p:spPr>
          <a:xfrm>
            <a:off x="7370064" y="44988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Low-confidence results show bold warning on card</a:t>
            </a:r>
            <a:endParaRPr lang="en-US" sz="780" dirty="0"/>
          </a:p>
        </p:txBody>
      </p:sp>
      <p:sp>
        <p:nvSpPr>
          <p:cNvPr id="80" name="Shape 74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F57C00">
              <a:alpha val="88000"/>
            </a:srgbClr>
          </a:solidFill>
          <a:ln w="12700">
            <a:solidFill>
              <a:srgbClr val="F57C00">
                <a:alpha val="88000"/>
              </a:srgbClr>
            </a:solidFill>
            <a:prstDash val="solid"/>
          </a:ln>
        </p:spPr>
      </p:sp>
      <p:sp>
        <p:nvSpPr>
          <p:cNvPr id="81" name="Text 75"/>
          <p:cNvSpPr/>
          <p:nvPr/>
        </p:nvSpPr>
        <p:spPr>
          <a:xfrm>
            <a:off x="274320" y="4882896"/>
            <a:ext cx="8595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3F00"/>
                </a:solidFill>
              </a:rPr>
              <a:t>⚗  PoC Status: Core flow is built and tested end-to-end. Confluence API authentication is the remaining open item. All other steps — AI analysis, approval, RCA creation — are fully functional.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2026-05-28T01:07:09Z</dcterms:created>
  <dcterms:modified xsi:type="dcterms:W3CDTF">2026-05-28T01:07:09Z</dcterms:modified>
</cp:coreProperties>
</file>